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5486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455664"/>
            <a:ext cx="54864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00" b="1">
                <a:solidFill>
                  <a:srgbClr val="22D3EE"/>
                </a:solidFill>
                <a:latin typeface="Aptos Mono"/>
              </a:rPr>
              <a:t>KAVACH / ZERO-TRUST API SECURITY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437376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800" b="1">
                <a:solidFill>
                  <a:srgbClr val="94A3B8"/>
                </a:solidFill>
                <a:latin typeface="Aptos Mono"/>
              </a:rPr>
              <a:t>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1024128"/>
            <a:ext cx="685800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5000" b="1">
                <a:solidFill>
                  <a:srgbClr val="F1F5F9"/>
                </a:solidFill>
                <a:latin typeface="Aptos"/>
              </a:rPr>
              <a:t>KAVACH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1847088"/>
            <a:ext cx="6858000" cy="4389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200" b="1">
                <a:solidFill>
                  <a:srgbClr val="22D3EE"/>
                </a:solidFill>
                <a:latin typeface="Aptos"/>
              </a:rPr>
              <a:t>Zero-Trust API Security Platform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" y="2423160"/>
            <a:ext cx="68580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94A3B8"/>
                </a:solidFill>
                <a:latin typeface="Aptos"/>
              </a:rPr>
              <a:t>Discover. Verify. Explain. Protect.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" y="3154680"/>
            <a:ext cx="1508760" cy="274320"/>
          </a:xfrm>
          <a:prstGeom prst="round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536" y="3177540"/>
            <a:ext cx="1399031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800" b="1">
                <a:solidFill>
                  <a:srgbClr val="22D3EE"/>
                </a:solidFill>
                <a:latin typeface="Aptos Mono"/>
              </a:rPr>
              <a:t>PROJECT SHOWCASE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450592" y="3154680"/>
            <a:ext cx="1965960" cy="274320"/>
          </a:xfrm>
          <a:prstGeom prst="roundRect">
            <a:avLst/>
          </a:prstGeom>
          <a:solidFill>
            <a:srgbClr val="A78BFA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05456" y="3177540"/>
            <a:ext cx="1856231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800" b="1">
                <a:solidFill>
                  <a:srgbClr val="A78BFA"/>
                </a:solidFill>
                <a:latin typeface="Aptos Mono"/>
              </a:rPr>
              <a:t>AI SECURITY INTELLIGENCE</a:t>
            </a:r>
          </a:p>
        </p:txBody>
      </p:sp>
      <p:sp>
        <p:nvSpPr>
          <p:cNvPr id="33" name="Oval 32"/>
          <p:cNvSpPr/>
          <p:nvPr/>
        </p:nvSpPr>
        <p:spPr>
          <a:xfrm>
            <a:off x="7292340" y="2217420"/>
            <a:ext cx="2240280" cy="2240280"/>
          </a:xfrm>
          <a:prstGeom prst="ellipse">
            <a:avLst/>
          </a:prstGeom>
          <a:noFill/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566659" y="2491739"/>
            <a:ext cx="1691640" cy="1691640"/>
          </a:xfrm>
          <a:prstGeom prst="ellipse">
            <a:avLst/>
          </a:prstGeom>
          <a:noFill/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840979" y="2766060"/>
            <a:ext cx="1143000" cy="1143000"/>
          </a:xfrm>
          <a:prstGeom prst="ellipse">
            <a:avLst/>
          </a:prstGeom>
          <a:noFill/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115300" y="3040379"/>
            <a:ext cx="594360" cy="594360"/>
          </a:xfrm>
          <a:prstGeom prst="ellipse">
            <a:avLst/>
          </a:prstGeom>
          <a:noFill/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12480" y="1737360"/>
            <a:ext cx="18288" cy="32004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60920" y="5074920"/>
            <a:ext cx="29260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100" b="1">
                <a:solidFill>
                  <a:srgbClr val="F87171"/>
                </a:solidFill>
                <a:latin typeface="Aptos Mono"/>
              </a:rPr>
              <a:t>API1:2023  /  CWE-639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5440680"/>
            <a:ext cx="6675120" cy="4389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A practical security intelligence cockpit for authenticated API authorization testing.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5486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455664"/>
            <a:ext cx="54864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00" b="1">
                <a:solidFill>
                  <a:srgbClr val="22D3EE"/>
                </a:solidFill>
                <a:latin typeface="Aptos Mono"/>
              </a:rPr>
              <a:t>KAVACH / ZERO-TRUST API SECURITY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437376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800" b="1">
                <a:solidFill>
                  <a:srgbClr val="94A3B8"/>
                </a:solidFill>
                <a:latin typeface="Aptos Mono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11480"/>
            <a:ext cx="502920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Aptos Mono"/>
              </a:rPr>
              <a:t>01 / THE PROBLEM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731520"/>
            <a:ext cx="10972800" cy="6583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3000" b="1">
                <a:solidFill>
                  <a:srgbClr val="F1F5F9"/>
                </a:solidFill>
                <a:latin typeface="Aptos"/>
              </a:rPr>
              <a:t>Authentication is not authorization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1426464"/>
            <a:ext cx="105156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A valid token should not grant access to another user's object.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2011680"/>
            <a:ext cx="5074920" cy="3429000"/>
          </a:xfrm>
          <a:prstGeom prst="roundRect">
            <a:avLst/>
          </a:prstGeom>
          <a:solidFill>
            <a:srgbClr val="0C1628"/>
          </a:solidFill>
          <a:ln w="10160">
            <a:solidFill>
              <a:srgbClr val="1E3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14400" y="2286000"/>
            <a:ext cx="1325880" cy="274320"/>
          </a:xfrm>
          <a:prstGeom prst="roundRect">
            <a:avLst/>
          </a:prstGeom>
          <a:solidFill>
            <a:srgbClr val="F87171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9264" y="2308860"/>
            <a:ext cx="1216152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800" b="1">
                <a:solidFill>
                  <a:srgbClr val="F87171"/>
                </a:solidFill>
                <a:latin typeface="Aptos Mono"/>
              </a:rPr>
              <a:t>THE FAILURE MODE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2743200"/>
            <a:ext cx="429768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100" b="1">
                <a:solidFill>
                  <a:srgbClr val="F1F5F9"/>
                </a:solidFill>
                <a:latin typeface="Aptos"/>
              </a:rPr>
              <a:t>Broken Object Level Authorization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3310128"/>
            <a:ext cx="4160520" cy="6583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Aptos"/>
              </a:rPr>
              <a:t>A caller is authenticated correctly, but the API forgets to enforce ownership at the object boundary.</a:t>
            </a:r>
          </a:p>
        </p:txBody>
      </p:sp>
      <p:sp>
        <p:nvSpPr>
          <p:cNvPr id="34" name="Oval 33"/>
          <p:cNvSpPr/>
          <p:nvPr/>
        </p:nvSpPr>
        <p:spPr>
          <a:xfrm>
            <a:off x="914400" y="4261104"/>
            <a:ext cx="82296" cy="82296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7280" y="4160520"/>
            <a:ext cx="4023359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  <a:latin typeface="Aptos"/>
              </a:rPr>
              <a:t>User A requests Object #102</a:t>
            </a:r>
          </a:p>
        </p:txBody>
      </p:sp>
      <p:sp>
        <p:nvSpPr>
          <p:cNvPr id="36" name="Oval 35"/>
          <p:cNvSpPr/>
          <p:nvPr/>
        </p:nvSpPr>
        <p:spPr>
          <a:xfrm>
            <a:off x="914400" y="4608576"/>
            <a:ext cx="82296" cy="82296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97280" y="4507992"/>
            <a:ext cx="4023359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  <a:latin typeface="Aptos"/>
              </a:rPr>
              <a:t>Object #102 belongs to User B</a:t>
            </a:r>
          </a:p>
        </p:txBody>
      </p:sp>
      <p:sp>
        <p:nvSpPr>
          <p:cNvPr id="38" name="Oval 37"/>
          <p:cNvSpPr/>
          <p:nvPr/>
        </p:nvSpPr>
        <p:spPr>
          <a:xfrm>
            <a:off x="914400" y="4956048"/>
            <a:ext cx="82296" cy="82296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97280" y="4855464"/>
            <a:ext cx="4023359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  <a:latin typeface="Aptos"/>
              </a:rPr>
              <a:t>API returns HTTP 200 + private data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80760" y="2011680"/>
            <a:ext cx="5440680" cy="3429000"/>
          </a:xfrm>
          <a:prstGeom prst="roundRect">
            <a:avLst/>
          </a:prstGeom>
          <a:solidFill>
            <a:srgbClr val="101F36"/>
          </a:solidFill>
          <a:ln w="10160">
            <a:solidFill>
              <a:srgbClr val="4D1D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355080" y="2286000"/>
            <a:ext cx="1417320" cy="274320"/>
          </a:xfrm>
          <a:prstGeom prst="round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9944" y="2308860"/>
            <a:ext cx="1307592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800" b="1">
                <a:solidFill>
                  <a:srgbClr val="34D399"/>
                </a:solidFill>
                <a:latin typeface="Aptos Mono"/>
              </a:rPr>
              <a:t>KAVACH RESPONSE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5080" y="2743200"/>
            <a:ext cx="466344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100" b="1">
                <a:solidFill>
                  <a:srgbClr val="F1F5F9"/>
                </a:solidFill>
                <a:latin typeface="Aptos"/>
              </a:rPr>
              <a:t>Prove the boundary failure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55080" y="3310128"/>
            <a:ext cx="4572000" cy="7132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Aptos"/>
              </a:rPr>
              <a:t>KAVACH compares multiple authenticated identities, verifies ownership mismatches, fingerprints responses, and produces an explainable verdict.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5080" y="4709160"/>
            <a:ext cx="461772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Aptos Mono"/>
              </a:rPr>
              <a:t>Deterministic evidence  /  Explainable risk  /  Actionable remediation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5486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455664"/>
            <a:ext cx="54864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00" b="1">
                <a:solidFill>
                  <a:srgbClr val="22D3EE"/>
                </a:solidFill>
                <a:latin typeface="Aptos Mono"/>
              </a:rPr>
              <a:t>KAVACH / ZERO-TRUST API SECURITY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437376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800" b="1">
                <a:solidFill>
                  <a:srgbClr val="94A3B8"/>
                </a:solidFill>
                <a:latin typeface="Aptos Mono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11480"/>
            <a:ext cx="502920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Aptos Mono"/>
              </a:rPr>
              <a:t>02 / THE PLATFORM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731520"/>
            <a:ext cx="10972800" cy="6583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3000" b="1">
                <a:solidFill>
                  <a:srgbClr val="F1F5F9"/>
                </a:solidFill>
                <a:latin typeface="Aptos"/>
              </a:rPr>
              <a:t>One workflow from discovery to remediation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1426464"/>
            <a:ext cx="105156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The system turns a raw API URL into a traceable security decision.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2743200"/>
            <a:ext cx="1645920" cy="896112"/>
          </a:xfrm>
          <a:prstGeom prst="roundRect">
            <a:avLst/>
          </a:prstGeom>
          <a:solidFill>
            <a:srgbClr val="101F36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2907792"/>
            <a:ext cx="14630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300" b="1">
                <a:solidFill>
                  <a:srgbClr val="22D3EE"/>
                </a:solidFill>
                <a:latin typeface="Aptos"/>
              </a:rPr>
              <a:t>WEB CONSOLE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3209544"/>
            <a:ext cx="14630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Aptos Mono"/>
              </a:rPr>
              <a:t>React + TypeScript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834640" y="2743200"/>
            <a:ext cx="1645920" cy="896112"/>
          </a:xfrm>
          <a:prstGeom prst="roundRect">
            <a:avLst/>
          </a:prstGeom>
          <a:solidFill>
            <a:srgbClr val="101F36"/>
          </a:solidFill>
          <a:ln w="101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26080" y="2907792"/>
            <a:ext cx="14630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300" b="1">
                <a:solidFill>
                  <a:srgbClr val="38BDF8"/>
                </a:solidFill>
                <a:latin typeface="Aptos"/>
              </a:rPr>
              <a:t>KAVACH CORE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26080" y="3209544"/>
            <a:ext cx="14630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Aptos Mono"/>
              </a:rPr>
              <a:t>FastAPI engine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937760" y="2011680"/>
            <a:ext cx="1645920" cy="896112"/>
          </a:xfrm>
          <a:prstGeom prst="roundRect">
            <a:avLst/>
          </a:prstGeom>
          <a:solidFill>
            <a:srgbClr val="101F36"/>
          </a:solidFill>
          <a:ln w="1016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0" y="2176272"/>
            <a:ext cx="14630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300" b="1">
                <a:solidFill>
                  <a:srgbClr val="A78BFA"/>
                </a:solidFill>
                <a:latin typeface="Aptos"/>
              </a:rPr>
              <a:t>NETRA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2478024"/>
            <a:ext cx="14630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Aptos Mono"/>
              </a:rPr>
              <a:t>OpenAPI discovery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937760" y="3474720"/>
            <a:ext cx="1645920" cy="896112"/>
          </a:xfrm>
          <a:prstGeom prst="roundRect">
            <a:avLst/>
          </a:prstGeom>
          <a:solidFill>
            <a:srgbClr val="101F36"/>
          </a:solidFill>
          <a:ln w="1016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0" y="3639312"/>
            <a:ext cx="14630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300" b="1">
                <a:solidFill>
                  <a:srgbClr val="F87171"/>
                </a:solidFill>
                <a:latin typeface="Aptos"/>
              </a:rPr>
              <a:t>RAKSHA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0" y="3941063"/>
            <a:ext cx="14630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Aptos Mono"/>
              </a:rPr>
              <a:t>BOLA testing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406640" y="2011680"/>
            <a:ext cx="1645920" cy="896112"/>
          </a:xfrm>
          <a:prstGeom prst="roundRect">
            <a:avLst/>
          </a:prstGeom>
          <a:solidFill>
            <a:srgbClr val="101F36"/>
          </a:solidFill>
          <a:ln w="1016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98079" y="2176272"/>
            <a:ext cx="14630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300" b="1">
                <a:solidFill>
                  <a:srgbClr val="FBBF24"/>
                </a:solidFill>
                <a:latin typeface="Aptos"/>
              </a:rPr>
              <a:t>DRISHTI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8079" y="2478024"/>
            <a:ext cx="14630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Aptos Mono"/>
              </a:rPr>
              <a:t>Local ML risk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406640" y="3474720"/>
            <a:ext cx="1645920" cy="896112"/>
          </a:xfrm>
          <a:prstGeom prst="roundRect">
            <a:avLst/>
          </a:prstGeom>
          <a:solidFill>
            <a:srgbClr val="101F36"/>
          </a:solidFill>
          <a:ln w="101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98079" y="3639312"/>
            <a:ext cx="14630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300" b="1">
                <a:solidFill>
                  <a:srgbClr val="34D399"/>
                </a:solidFill>
                <a:latin typeface="Aptos"/>
              </a:rPr>
              <a:t>PRAMAAN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98079" y="3941063"/>
            <a:ext cx="14630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Aptos Mono"/>
              </a:rPr>
              <a:t>Evidence engine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875520" y="2011680"/>
            <a:ext cx="1645920" cy="896112"/>
          </a:xfrm>
          <a:prstGeom prst="roundRect">
            <a:avLst/>
          </a:prstGeom>
          <a:solidFill>
            <a:srgbClr val="101F36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966960" y="2176272"/>
            <a:ext cx="14630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300" b="1">
                <a:solidFill>
                  <a:srgbClr val="22D3EE"/>
                </a:solidFill>
                <a:latin typeface="Aptos"/>
              </a:rPr>
              <a:t>TRACE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66960" y="2478024"/>
            <a:ext cx="14630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Aptos Mono"/>
              </a:rPr>
              <a:t>Attack path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875520" y="3474720"/>
            <a:ext cx="1645920" cy="896112"/>
          </a:xfrm>
          <a:prstGeom prst="roundRect">
            <a:avLst/>
          </a:prstGeom>
          <a:solidFill>
            <a:srgbClr val="101F36"/>
          </a:solidFill>
          <a:ln w="101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966960" y="3639312"/>
            <a:ext cx="14630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300" b="1">
                <a:solidFill>
                  <a:srgbClr val="34D399"/>
                </a:solidFill>
                <a:latin typeface="Aptos"/>
              </a:rPr>
              <a:t>SURAKSHA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60" y="3941063"/>
            <a:ext cx="14630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Aptos Mono"/>
              </a:rPr>
              <a:t>Remediation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2377440" y="3200400"/>
            <a:ext cx="457200" cy="0"/>
          </a:xfrm>
          <a:prstGeom prst="line">
            <a:avLst/>
          </a:prstGeom>
          <a:ln w="254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4480560" y="2514600"/>
            <a:ext cx="411480" cy="502920"/>
          </a:xfrm>
          <a:prstGeom prst="line">
            <a:avLst/>
          </a:prstGeom>
          <a:ln w="2540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4480560" y="3383280"/>
            <a:ext cx="411480" cy="502920"/>
          </a:xfrm>
          <a:prstGeom prst="line">
            <a:avLst/>
          </a:prstGeom>
          <a:ln w="25400">
            <a:solidFill>
              <a:srgbClr val="F8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6766560" y="2468880"/>
            <a:ext cx="594360" cy="0"/>
          </a:xfrm>
          <a:prstGeom prst="line">
            <a:avLst/>
          </a:prstGeom>
          <a:ln w="2540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6766560" y="3931920"/>
            <a:ext cx="594360" cy="0"/>
          </a:xfrm>
          <a:prstGeom prst="line">
            <a:avLst/>
          </a:prstGeom>
          <a:ln w="2540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9235440" y="2468880"/>
            <a:ext cx="594360" cy="0"/>
          </a:xfrm>
          <a:prstGeom prst="line">
            <a:avLst/>
          </a:prstGeom>
          <a:ln w="254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9235440" y="3931920"/>
            <a:ext cx="594360" cy="0"/>
          </a:xfrm>
          <a:prstGeom prst="line">
            <a:avLst/>
          </a:prstGeom>
          <a:ln w="2540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5486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455664"/>
            <a:ext cx="54864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00" b="1">
                <a:solidFill>
                  <a:srgbClr val="22D3EE"/>
                </a:solidFill>
                <a:latin typeface="Aptos Mono"/>
              </a:rPr>
              <a:t>KAVACH / ZERO-TRUST API SECURITY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437376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800" b="1">
                <a:solidFill>
                  <a:srgbClr val="94A3B8"/>
                </a:solidFill>
                <a:latin typeface="Aptos Mono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11480"/>
            <a:ext cx="502920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Aptos Mono"/>
              </a:rPr>
              <a:t>03 / VERIFICATION PIPELINE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731520"/>
            <a:ext cx="10972800" cy="6583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3000" b="1">
                <a:solidFill>
                  <a:srgbClr val="F1F5F9"/>
                </a:solidFill>
                <a:latin typeface="Aptos"/>
              </a:rPr>
              <a:t>Seven stages, one auditable decision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1426464"/>
            <a:ext cx="105156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Every scan step leaves a visible state, signal, or evidence artifact.</a:t>
            </a:r>
          </a:p>
        </p:txBody>
      </p:sp>
      <p:sp>
        <p:nvSpPr>
          <p:cNvPr id="29" name="Oval 28"/>
          <p:cNvSpPr/>
          <p:nvPr/>
        </p:nvSpPr>
        <p:spPr>
          <a:xfrm>
            <a:off x="1170432" y="2331720"/>
            <a:ext cx="566928" cy="566928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70432" y="2478024"/>
            <a:ext cx="566928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000" b="1">
                <a:solidFill>
                  <a:srgbClr val="22D3EE"/>
                </a:solidFill>
                <a:latin typeface="Aptos Mono"/>
              </a:rPr>
              <a:t>01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755648" y="2615184"/>
            <a:ext cx="512064" cy="0"/>
          </a:xfrm>
          <a:prstGeom prst="line">
            <a:avLst/>
          </a:prstGeom>
          <a:ln w="25400">
            <a:solidFill>
              <a:srgbClr val="355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85800" y="3154680"/>
            <a:ext cx="15544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100" b="1">
                <a:solidFill>
                  <a:srgbClr val="22D3EE"/>
                </a:solidFill>
                <a:latin typeface="Aptos Mono"/>
              </a:rPr>
              <a:t>TARGET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3474720"/>
            <a:ext cx="155448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Aptos"/>
              </a:rPr>
              <a:t>Validate URL</a:t>
            </a:r>
          </a:p>
        </p:txBody>
      </p:sp>
      <p:sp>
        <p:nvSpPr>
          <p:cNvPr id="34" name="Oval 33"/>
          <p:cNvSpPr/>
          <p:nvPr/>
        </p:nvSpPr>
        <p:spPr>
          <a:xfrm>
            <a:off x="2798064" y="2331720"/>
            <a:ext cx="566928" cy="566928"/>
          </a:xfrm>
          <a:prstGeom prst="ellipse">
            <a:avLst/>
          </a:prstGeom>
          <a:solidFill>
            <a:srgbClr val="A78BFA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98064" y="2478024"/>
            <a:ext cx="566928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000" b="1">
                <a:solidFill>
                  <a:srgbClr val="A78BFA"/>
                </a:solidFill>
                <a:latin typeface="Aptos Mono"/>
              </a:rPr>
              <a:t>02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383280" y="2615184"/>
            <a:ext cx="512064" cy="0"/>
          </a:xfrm>
          <a:prstGeom prst="line">
            <a:avLst/>
          </a:prstGeom>
          <a:ln w="25400">
            <a:solidFill>
              <a:srgbClr val="355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313432" y="3154680"/>
            <a:ext cx="15544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100" b="1">
                <a:solidFill>
                  <a:srgbClr val="A78BFA"/>
                </a:solidFill>
                <a:latin typeface="Aptos Mono"/>
              </a:rPr>
              <a:t>NETRA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13432" y="3474720"/>
            <a:ext cx="155448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Aptos"/>
              </a:rPr>
              <a:t>Discover OpenAPI</a:t>
            </a:r>
          </a:p>
        </p:txBody>
      </p:sp>
      <p:sp>
        <p:nvSpPr>
          <p:cNvPr id="39" name="Oval 38"/>
          <p:cNvSpPr/>
          <p:nvPr/>
        </p:nvSpPr>
        <p:spPr>
          <a:xfrm>
            <a:off x="4425696" y="2331720"/>
            <a:ext cx="566928" cy="566928"/>
          </a:xfrm>
          <a:prstGeom prst="ellipse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25696" y="2478024"/>
            <a:ext cx="566928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000" b="1">
                <a:solidFill>
                  <a:srgbClr val="38BDF8"/>
                </a:solidFill>
                <a:latin typeface="Aptos Mono"/>
              </a:rPr>
              <a:t>03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010912" y="2615184"/>
            <a:ext cx="512064" cy="0"/>
          </a:xfrm>
          <a:prstGeom prst="line">
            <a:avLst/>
          </a:prstGeom>
          <a:ln w="25400">
            <a:solidFill>
              <a:srgbClr val="355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3941064" y="3154680"/>
            <a:ext cx="15544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100" b="1">
                <a:solidFill>
                  <a:srgbClr val="38BDF8"/>
                </a:solidFill>
                <a:latin typeface="Aptos Mono"/>
              </a:rPr>
              <a:t>ACCESS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41064" y="3474720"/>
            <a:ext cx="155448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Aptos"/>
              </a:rPr>
              <a:t>Map identities</a:t>
            </a:r>
          </a:p>
        </p:txBody>
      </p:sp>
      <p:sp>
        <p:nvSpPr>
          <p:cNvPr id="44" name="Oval 43"/>
          <p:cNvSpPr/>
          <p:nvPr/>
        </p:nvSpPr>
        <p:spPr>
          <a:xfrm>
            <a:off x="6053328" y="2331720"/>
            <a:ext cx="566928" cy="566928"/>
          </a:xfrm>
          <a:prstGeom prst="ellipse">
            <a:avLst/>
          </a:prstGeom>
          <a:solidFill>
            <a:srgbClr val="F87171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53328" y="2478024"/>
            <a:ext cx="566928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000" b="1">
                <a:solidFill>
                  <a:srgbClr val="F87171"/>
                </a:solidFill>
                <a:latin typeface="Aptos Mono"/>
              </a:rPr>
              <a:t>04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638544" y="2615184"/>
            <a:ext cx="512064" cy="0"/>
          </a:xfrm>
          <a:prstGeom prst="line">
            <a:avLst/>
          </a:prstGeom>
          <a:ln w="25400">
            <a:solidFill>
              <a:srgbClr val="355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568696" y="3154680"/>
            <a:ext cx="15544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100" b="1">
                <a:solidFill>
                  <a:srgbClr val="F87171"/>
                </a:solidFill>
                <a:latin typeface="Aptos Mono"/>
              </a:rPr>
              <a:t>RAKSHA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68696" y="3474720"/>
            <a:ext cx="155448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Aptos"/>
              </a:rPr>
              <a:t>Test ownership</a:t>
            </a:r>
          </a:p>
        </p:txBody>
      </p:sp>
      <p:sp>
        <p:nvSpPr>
          <p:cNvPr id="49" name="Oval 48"/>
          <p:cNvSpPr/>
          <p:nvPr/>
        </p:nvSpPr>
        <p:spPr>
          <a:xfrm>
            <a:off x="7680960" y="2331720"/>
            <a:ext cx="566928" cy="566928"/>
          </a:xfrm>
          <a:prstGeom prst="ellipse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680960" y="2478024"/>
            <a:ext cx="566928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000" b="1">
                <a:solidFill>
                  <a:srgbClr val="FBBF24"/>
                </a:solidFill>
                <a:latin typeface="Aptos Mono"/>
              </a:rPr>
              <a:t>05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8266175" y="2615184"/>
            <a:ext cx="512065" cy="0"/>
          </a:xfrm>
          <a:prstGeom prst="line">
            <a:avLst/>
          </a:prstGeom>
          <a:ln w="25400">
            <a:solidFill>
              <a:srgbClr val="355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7196328" y="3154680"/>
            <a:ext cx="15544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100" b="1">
                <a:solidFill>
                  <a:srgbClr val="FBBF24"/>
                </a:solidFill>
                <a:latin typeface="Aptos Mono"/>
              </a:rPr>
              <a:t>DRISHTI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96328" y="3474720"/>
            <a:ext cx="155448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Aptos"/>
              </a:rPr>
              <a:t>Score risk</a:t>
            </a:r>
          </a:p>
        </p:txBody>
      </p:sp>
      <p:sp>
        <p:nvSpPr>
          <p:cNvPr id="54" name="Oval 53"/>
          <p:cNvSpPr/>
          <p:nvPr/>
        </p:nvSpPr>
        <p:spPr>
          <a:xfrm>
            <a:off x="9308592" y="2331720"/>
            <a:ext cx="566928" cy="566928"/>
          </a:xfrm>
          <a:prstGeom prst="ellipse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308592" y="2478024"/>
            <a:ext cx="566928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000" b="1">
                <a:solidFill>
                  <a:srgbClr val="34D399"/>
                </a:solidFill>
                <a:latin typeface="Aptos Mono"/>
              </a:rPr>
              <a:t>06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9893808" y="2615184"/>
            <a:ext cx="512064" cy="0"/>
          </a:xfrm>
          <a:prstGeom prst="line">
            <a:avLst/>
          </a:prstGeom>
          <a:ln w="25400">
            <a:solidFill>
              <a:srgbClr val="355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8823960" y="3154680"/>
            <a:ext cx="15544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100" b="1">
                <a:solidFill>
                  <a:srgbClr val="34D399"/>
                </a:solidFill>
                <a:latin typeface="Aptos Mono"/>
              </a:rPr>
              <a:t>PRAMAAN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823960" y="3474720"/>
            <a:ext cx="155448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Aptos"/>
              </a:rPr>
              <a:t>Capture proof</a:t>
            </a:r>
          </a:p>
        </p:txBody>
      </p:sp>
      <p:sp>
        <p:nvSpPr>
          <p:cNvPr id="59" name="Oval 58"/>
          <p:cNvSpPr/>
          <p:nvPr/>
        </p:nvSpPr>
        <p:spPr>
          <a:xfrm>
            <a:off x="10936224" y="2331720"/>
            <a:ext cx="566928" cy="566928"/>
          </a:xfrm>
          <a:prstGeom prst="ellipse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936224" y="2478024"/>
            <a:ext cx="566928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000" b="1">
                <a:solidFill>
                  <a:srgbClr val="F1F5F9"/>
                </a:solidFill>
                <a:latin typeface="Aptos Mono"/>
              </a:rPr>
              <a:t>07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451592" y="3154680"/>
            <a:ext cx="15544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100" b="1">
                <a:solidFill>
                  <a:srgbClr val="F1F5F9"/>
                </a:solidFill>
                <a:latin typeface="Aptos Mono"/>
              </a:rPr>
              <a:t>VERDICT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451592" y="3474720"/>
            <a:ext cx="155448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Aptos"/>
              </a:rPr>
              <a:t>Remediate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143000" y="4389120"/>
            <a:ext cx="9921240" cy="914400"/>
          </a:xfrm>
          <a:prstGeom prst="roundRect">
            <a:avLst/>
          </a:prstGeom>
          <a:solidFill>
            <a:srgbClr val="0C1628"/>
          </a:solidFill>
          <a:ln w="10160">
            <a:solidFill>
              <a:srgbClr val="1E3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417320" y="4617720"/>
            <a:ext cx="141732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Aptos Mono"/>
              </a:rPr>
              <a:t>Operator outcome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880360" y="4553712"/>
            <a:ext cx="7726679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Aptos"/>
              </a:rPr>
              <a:t>A reproducible finding with request context, response proof, risk score, attack path, and developer fix guidance.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5486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455664"/>
            <a:ext cx="54864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00" b="1">
                <a:solidFill>
                  <a:srgbClr val="22D3EE"/>
                </a:solidFill>
                <a:latin typeface="Aptos Mono"/>
              </a:rPr>
              <a:t>KAVACH / ZERO-TRUST API SECURITY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437376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800" b="1">
                <a:solidFill>
                  <a:srgbClr val="94A3B8"/>
                </a:solidFill>
                <a:latin typeface="Aptos Mono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11480"/>
            <a:ext cx="502920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Aptos Mono"/>
              </a:rPr>
              <a:t>04 / CONTROLLED DEMO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731520"/>
            <a:ext cx="10972800" cy="6583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3000" b="1">
                <a:solidFill>
                  <a:srgbClr val="F1F5F9"/>
                </a:solidFill>
                <a:latin typeface="Aptos"/>
              </a:rPr>
              <a:t>The KAVACH Lab makes the risk visible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1426464"/>
            <a:ext cx="105156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An intentionally vulnerable API provides a safe, repeatable demonstration target.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2011680"/>
            <a:ext cx="5120640" cy="3429000"/>
          </a:xfrm>
          <a:prstGeom prst="roundRect">
            <a:avLst/>
          </a:prstGeom>
          <a:solidFill>
            <a:srgbClr val="0C1628"/>
          </a:solidFill>
          <a:ln w="10160">
            <a:solidFill>
              <a:srgbClr val="1E3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60120" y="2286000"/>
            <a:ext cx="1234440" cy="274320"/>
          </a:xfrm>
          <a:prstGeom prst="round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4984" y="2308860"/>
            <a:ext cx="1124712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800" b="1">
                <a:solidFill>
                  <a:srgbClr val="22D3EE"/>
                </a:solidFill>
                <a:latin typeface="Aptos Mono"/>
              </a:rPr>
              <a:t>SANDBOX TARGET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2743200"/>
            <a:ext cx="438912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F1F5F9"/>
                </a:solidFill>
                <a:latin typeface="Aptos Mono"/>
              </a:rPr>
              <a:t>http://127.0.0.1:8000</a:t>
            </a:r>
          </a:p>
        </p:txBody>
      </p:sp>
      <p:sp>
        <p:nvSpPr>
          <p:cNvPr id="33" name="Oval 32"/>
          <p:cNvSpPr/>
          <p:nvPr/>
        </p:nvSpPr>
        <p:spPr>
          <a:xfrm>
            <a:off x="960120" y="3529584"/>
            <a:ext cx="82296" cy="82296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3429000"/>
            <a:ext cx="406908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00" b="0">
                <a:solidFill>
                  <a:srgbClr val="F1F5F9"/>
                </a:solidFill>
                <a:latin typeface="Aptos"/>
              </a:rPr>
              <a:t>User A owns Order #101</a:t>
            </a:r>
          </a:p>
        </p:txBody>
      </p:sp>
      <p:sp>
        <p:nvSpPr>
          <p:cNvPr id="35" name="Oval 34"/>
          <p:cNvSpPr/>
          <p:nvPr/>
        </p:nvSpPr>
        <p:spPr>
          <a:xfrm>
            <a:off x="960120" y="3895344"/>
            <a:ext cx="82296" cy="82296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43000" y="3794760"/>
            <a:ext cx="406908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00" b="0">
                <a:solidFill>
                  <a:srgbClr val="F1F5F9"/>
                </a:solidFill>
                <a:latin typeface="Aptos"/>
              </a:rPr>
              <a:t>User B owns Order #102</a:t>
            </a:r>
          </a:p>
        </p:txBody>
      </p:sp>
      <p:sp>
        <p:nvSpPr>
          <p:cNvPr id="37" name="Oval 36"/>
          <p:cNvSpPr/>
          <p:nvPr/>
        </p:nvSpPr>
        <p:spPr>
          <a:xfrm>
            <a:off x="960120" y="4261104"/>
            <a:ext cx="82296" cy="82296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4160520"/>
            <a:ext cx="406908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00" b="0">
                <a:solidFill>
                  <a:srgbClr val="F1F5F9"/>
                </a:solidFill>
                <a:latin typeface="Aptos"/>
              </a:rPr>
              <a:t>Both identities have valid tokens</a:t>
            </a:r>
          </a:p>
        </p:txBody>
      </p:sp>
      <p:sp>
        <p:nvSpPr>
          <p:cNvPr id="39" name="Oval 38"/>
          <p:cNvSpPr/>
          <p:nvPr/>
        </p:nvSpPr>
        <p:spPr>
          <a:xfrm>
            <a:off x="960120" y="4626864"/>
            <a:ext cx="82296" cy="82296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4526280"/>
            <a:ext cx="406908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00" b="0">
                <a:solidFill>
                  <a:srgbClr val="F1F5F9"/>
                </a:solidFill>
                <a:latin typeface="Aptos"/>
              </a:rPr>
              <a:t>Object route returns foreign records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26480" y="2011680"/>
            <a:ext cx="5394960" cy="3429000"/>
          </a:xfrm>
          <a:prstGeom prst="roundRect">
            <a:avLst/>
          </a:prstGeom>
          <a:solidFill>
            <a:srgbClr val="101F36"/>
          </a:solidFill>
          <a:ln w="10160">
            <a:solidFill>
              <a:srgbClr val="5D26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400800" y="2286000"/>
            <a:ext cx="1234440" cy="274320"/>
          </a:xfrm>
          <a:prstGeom prst="roundRect">
            <a:avLst/>
          </a:prstGeom>
          <a:solidFill>
            <a:srgbClr val="F87171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55664" y="2308860"/>
            <a:ext cx="1124712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800" b="1">
                <a:solidFill>
                  <a:srgbClr val="F87171"/>
                </a:solidFill>
                <a:latin typeface="Aptos Mono"/>
              </a:rPr>
              <a:t>VERIFIED RESULT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2743200"/>
            <a:ext cx="438912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F87171"/>
                </a:solidFill>
                <a:latin typeface="Aptos"/>
              </a:rPr>
              <a:t>2 BOLA findings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3401568"/>
            <a:ext cx="4114800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Aptos Mono"/>
              </a:rPr>
              <a:t>User A -&gt; Order #102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3840480"/>
            <a:ext cx="4114800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Aptos Mono"/>
              </a:rPr>
              <a:t>User B -&gt; Order #101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4617720"/>
            <a:ext cx="448056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1">
                <a:solidFill>
                  <a:srgbClr val="FBBF24"/>
                </a:solidFill>
                <a:latin typeface="Aptos Mono"/>
              </a:rPr>
              <a:t>HTTP 200  /  ownership mismatch  /  CRITICAL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5486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455664"/>
            <a:ext cx="54864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00" b="1">
                <a:solidFill>
                  <a:srgbClr val="22D3EE"/>
                </a:solidFill>
                <a:latin typeface="Aptos Mono"/>
              </a:rPr>
              <a:t>KAVACH / ZERO-TRUST API SECURITY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437376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800" b="1">
                <a:solidFill>
                  <a:srgbClr val="94A3B8"/>
                </a:solidFill>
                <a:latin typeface="Aptos Mono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11480"/>
            <a:ext cx="502920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Aptos Mono"/>
              </a:rPr>
              <a:t>05 / DRISHTI INTELLIGENCE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731520"/>
            <a:ext cx="10972800" cy="6583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3000" b="1">
                <a:solidFill>
                  <a:srgbClr val="F1F5F9"/>
                </a:solidFill>
                <a:latin typeface="Aptos"/>
              </a:rPr>
              <a:t>AI that explains the verdict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1426464"/>
            <a:ext cx="105156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Local inference keeps security signals inside the operator's environment.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1965960"/>
            <a:ext cx="3657600" cy="3520440"/>
          </a:xfrm>
          <a:prstGeom prst="roundRect">
            <a:avLst/>
          </a:prstGeom>
          <a:solidFill>
            <a:srgbClr val="0C1628"/>
          </a:solidFill>
          <a:ln w="10160">
            <a:solidFill>
              <a:srgbClr val="1E3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60120" y="2267712"/>
            <a:ext cx="777240" cy="274320"/>
          </a:xfrm>
          <a:prstGeom prst="roundRect">
            <a:avLst/>
          </a:prstGeom>
          <a:solidFill>
            <a:srgbClr val="A78BFA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4984" y="2290572"/>
            <a:ext cx="667512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800" b="1">
                <a:solidFill>
                  <a:srgbClr val="A78BFA"/>
                </a:solidFill>
                <a:latin typeface="Aptos Mono"/>
              </a:rPr>
              <a:t>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2743200"/>
            <a:ext cx="283464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200" b="1">
                <a:solidFill>
                  <a:srgbClr val="F1F5F9"/>
                </a:solidFill>
                <a:latin typeface="Aptos"/>
              </a:rPr>
              <a:t>Random Forest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3246120"/>
            <a:ext cx="29260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1">
                <a:solidFill>
                  <a:srgbClr val="A78BFA"/>
                </a:solidFill>
                <a:latin typeface="Aptos Mono"/>
              </a:rPr>
              <a:t>Local scikit-learn inference</a:t>
            </a:r>
          </a:p>
        </p:txBody>
      </p:sp>
      <p:sp>
        <p:nvSpPr>
          <p:cNvPr id="34" name="Oval 33"/>
          <p:cNvSpPr/>
          <p:nvPr/>
        </p:nvSpPr>
        <p:spPr>
          <a:xfrm>
            <a:off x="960120" y="3895344"/>
            <a:ext cx="82296" cy="82296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43000" y="3794760"/>
            <a:ext cx="2743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  <a:latin typeface="Aptos"/>
              </a:rPr>
              <a:t>11 behavioral features</a:t>
            </a:r>
          </a:p>
        </p:txBody>
      </p:sp>
      <p:sp>
        <p:nvSpPr>
          <p:cNvPr id="36" name="Oval 35"/>
          <p:cNvSpPr/>
          <p:nvPr/>
        </p:nvSpPr>
        <p:spPr>
          <a:xfrm>
            <a:off x="960120" y="4261104"/>
            <a:ext cx="82296" cy="82296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3000" y="4160520"/>
            <a:ext cx="2743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  <a:latin typeface="Aptos"/>
              </a:rPr>
              <a:t>600 synthetic training samples</a:t>
            </a:r>
          </a:p>
        </p:txBody>
      </p:sp>
      <p:sp>
        <p:nvSpPr>
          <p:cNvPr id="38" name="Oval 37"/>
          <p:cNvSpPr/>
          <p:nvPr/>
        </p:nvSpPr>
        <p:spPr>
          <a:xfrm>
            <a:off x="960120" y="4626864"/>
            <a:ext cx="82296" cy="82296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" y="4526280"/>
            <a:ext cx="2743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  <a:latin typeface="Aptos"/>
              </a:rPr>
              <a:t>Confidence + anomaly scores</a:t>
            </a:r>
          </a:p>
        </p:txBody>
      </p:sp>
      <p:sp>
        <p:nvSpPr>
          <p:cNvPr id="40" name="Oval 39"/>
          <p:cNvSpPr/>
          <p:nvPr/>
        </p:nvSpPr>
        <p:spPr>
          <a:xfrm>
            <a:off x="960120" y="4992624"/>
            <a:ext cx="82296" cy="82296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3000" y="4892040"/>
            <a:ext cx="2743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  <a:latin typeface="Aptos"/>
              </a:rPr>
              <a:t>No external telemetry dependency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617720" y="1965960"/>
            <a:ext cx="6903720" cy="3520440"/>
          </a:xfrm>
          <a:prstGeom prst="roundRect">
            <a:avLst/>
          </a:prstGeom>
          <a:solidFill>
            <a:srgbClr val="101F36"/>
          </a:solidFill>
          <a:ln w="10160">
            <a:solidFill>
              <a:srgbClr val="1E3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937760" y="2286000"/>
            <a:ext cx="32004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Aptos Mono"/>
              </a:rPr>
              <a:t>Risk signal composition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37760" y="2788920"/>
            <a:ext cx="20116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Aptos"/>
              </a:rPr>
              <a:t>Ownership mismatch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086600" y="2816351"/>
            <a:ext cx="3337560" cy="164592"/>
          </a:xfrm>
          <a:prstGeom prst="roundRect">
            <a:avLst/>
          </a:prstGeom>
          <a:solidFill>
            <a:srgbClr val="1E3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7086600" y="2816351"/>
            <a:ext cx="3337560" cy="164592"/>
          </a:xfrm>
          <a:prstGeom prst="round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652760" y="2761488"/>
            <a:ext cx="50292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200" b="1">
                <a:solidFill>
                  <a:srgbClr val="F87171"/>
                </a:solidFill>
                <a:latin typeface="Aptos Mono"/>
              </a:rPr>
              <a:t>100%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937760" y="3355848"/>
            <a:ext cx="20116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Aptos"/>
              </a:rPr>
              <a:t>Cross identity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086600" y="3383279"/>
            <a:ext cx="3337560" cy="164592"/>
          </a:xfrm>
          <a:prstGeom prst="roundRect">
            <a:avLst/>
          </a:prstGeom>
          <a:solidFill>
            <a:srgbClr val="1E3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086600" y="3383279"/>
            <a:ext cx="3337560" cy="164592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652760" y="3328416"/>
            <a:ext cx="50292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200" b="1">
                <a:solidFill>
                  <a:srgbClr val="22D3EE"/>
                </a:solidFill>
                <a:latin typeface="Aptos Mono"/>
              </a:rPr>
              <a:t>100%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37760" y="3922776"/>
            <a:ext cx="20116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Aptos"/>
              </a:rPr>
              <a:t>Successful access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086600" y="3950208"/>
            <a:ext cx="3337560" cy="164592"/>
          </a:xfrm>
          <a:prstGeom prst="roundRect">
            <a:avLst/>
          </a:prstGeom>
          <a:solidFill>
            <a:srgbClr val="1E3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7086600" y="3950208"/>
            <a:ext cx="3337560" cy="164592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652760" y="3895344"/>
            <a:ext cx="50292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200" b="1">
                <a:solidFill>
                  <a:srgbClr val="FBBF24"/>
                </a:solidFill>
                <a:latin typeface="Aptos Mono"/>
              </a:rPr>
              <a:t>100%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937760" y="4489704"/>
            <a:ext cx="20116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Aptos"/>
              </a:rPr>
              <a:t>Response anomaly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086600" y="4517136"/>
            <a:ext cx="3337560" cy="164592"/>
          </a:xfrm>
          <a:prstGeom prst="roundRect">
            <a:avLst/>
          </a:prstGeom>
          <a:solidFill>
            <a:srgbClr val="1E3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7086600" y="4517136"/>
            <a:ext cx="3337560" cy="164592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652760" y="4462272"/>
            <a:ext cx="50292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200" b="1">
                <a:solidFill>
                  <a:srgbClr val="A78BFA"/>
                </a:solidFill>
                <a:latin typeface="Aptos Mono"/>
              </a:rPr>
              <a:t>100%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937760" y="5010912"/>
            <a:ext cx="530352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1">
                <a:solidFill>
                  <a:srgbClr val="F87171"/>
                </a:solidFill>
                <a:latin typeface="Aptos Mono"/>
              </a:rPr>
              <a:t>THREAT VERIFIED  /  IMMEDIATE REMEDIATION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5486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455664"/>
            <a:ext cx="54864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00" b="1">
                <a:solidFill>
                  <a:srgbClr val="22D3EE"/>
                </a:solidFill>
                <a:latin typeface="Aptos Mono"/>
              </a:rPr>
              <a:t>KAVACH / ZERO-TRUST API SECURITY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437376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800" b="1">
                <a:solidFill>
                  <a:srgbClr val="94A3B8"/>
                </a:solidFill>
                <a:latin typeface="Aptos Mono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11480"/>
            <a:ext cx="502920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Aptos Mono"/>
              </a:rPr>
              <a:t>06 / TRACE WORKSPACE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731520"/>
            <a:ext cx="10972800" cy="6583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3000" b="1">
                <a:solidFill>
                  <a:srgbClr val="F1F5F9"/>
                </a:solidFill>
                <a:latin typeface="Aptos"/>
              </a:rPr>
              <a:t>From finding to attack story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1426464"/>
            <a:ext cx="105156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Trace turns raw scanner output into an investigation a human can follow.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2423160"/>
            <a:ext cx="1600200" cy="896112"/>
          </a:xfrm>
          <a:prstGeom prst="roundRect">
            <a:avLst/>
          </a:prstGeom>
          <a:solidFill>
            <a:srgbClr val="101F36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2587752"/>
            <a:ext cx="141732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300" b="1">
                <a:solidFill>
                  <a:srgbClr val="22D3EE"/>
                </a:solidFill>
                <a:latin typeface="Aptos"/>
              </a:rPr>
              <a:t>USER 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2889504"/>
            <a:ext cx="141732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Aptos Mono"/>
              </a:rPr>
              <a:t>identity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203704" y="2871216"/>
            <a:ext cx="246887" cy="0"/>
          </a:xfrm>
          <a:prstGeom prst="line">
            <a:avLst/>
          </a:prstGeom>
          <a:ln w="254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2496312" y="2423160"/>
            <a:ext cx="1600200" cy="896112"/>
          </a:xfrm>
          <a:prstGeom prst="roundRect">
            <a:avLst/>
          </a:prstGeom>
          <a:solidFill>
            <a:srgbClr val="101F36"/>
          </a:solidFill>
          <a:ln w="1016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87752" y="2587752"/>
            <a:ext cx="141732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300" b="1">
                <a:solidFill>
                  <a:srgbClr val="A78BFA"/>
                </a:solidFill>
                <a:latin typeface="Aptos"/>
              </a:rPr>
              <a:t>TOKEN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87752" y="2889504"/>
            <a:ext cx="141732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Aptos Mono"/>
              </a:rPr>
              <a:t>auth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105656" y="2871216"/>
            <a:ext cx="246888" cy="0"/>
          </a:xfrm>
          <a:prstGeom prst="line">
            <a:avLst/>
          </a:prstGeom>
          <a:ln w="2540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4398264" y="2423160"/>
            <a:ext cx="1600200" cy="896112"/>
          </a:xfrm>
          <a:prstGeom prst="roundRect">
            <a:avLst/>
          </a:prstGeom>
          <a:solidFill>
            <a:srgbClr val="101F36"/>
          </a:solidFill>
          <a:ln w="101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89704" y="2587752"/>
            <a:ext cx="141732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300" b="1">
                <a:solidFill>
                  <a:srgbClr val="38BDF8"/>
                </a:solidFill>
                <a:latin typeface="Aptos"/>
              </a:rPr>
              <a:t>GET /orders/102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89704" y="2889504"/>
            <a:ext cx="141732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Aptos Mono"/>
              </a:rPr>
              <a:t>route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007608" y="2871216"/>
            <a:ext cx="246888" cy="0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6300216" y="2423160"/>
            <a:ext cx="1600200" cy="896112"/>
          </a:xfrm>
          <a:prstGeom prst="roundRect">
            <a:avLst/>
          </a:prstGeom>
          <a:solidFill>
            <a:srgbClr val="101F36"/>
          </a:solidFill>
          <a:ln w="1016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91656" y="2587752"/>
            <a:ext cx="141732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300" b="1">
                <a:solidFill>
                  <a:srgbClr val="FBBF24"/>
                </a:solidFill>
                <a:latin typeface="Aptos"/>
              </a:rPr>
              <a:t>OBJECT #102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91656" y="2889504"/>
            <a:ext cx="141732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Aptos Mono"/>
              </a:rPr>
              <a:t>owner: User B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909560" y="2871216"/>
            <a:ext cx="246888" cy="0"/>
          </a:xfrm>
          <a:prstGeom prst="line">
            <a:avLst/>
          </a:prstGeom>
          <a:ln w="2540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8202168" y="2423160"/>
            <a:ext cx="1600200" cy="896112"/>
          </a:xfrm>
          <a:prstGeom prst="roundRect">
            <a:avLst/>
          </a:prstGeom>
          <a:solidFill>
            <a:srgbClr val="101F36"/>
          </a:solidFill>
          <a:ln w="1016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93608" y="2587752"/>
            <a:ext cx="141732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300" b="1">
                <a:solidFill>
                  <a:srgbClr val="F87171"/>
                </a:solidFill>
                <a:latin typeface="Aptos"/>
              </a:rPr>
              <a:t>HTTP 200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93608" y="2889504"/>
            <a:ext cx="141732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Aptos Mono"/>
              </a:rPr>
              <a:t>foreign data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9811512" y="2871216"/>
            <a:ext cx="246888" cy="0"/>
          </a:xfrm>
          <a:prstGeom prst="line">
            <a:avLst/>
          </a:prstGeom>
          <a:ln w="25400">
            <a:solidFill>
              <a:srgbClr val="F8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10104120" y="2423160"/>
            <a:ext cx="1600200" cy="896112"/>
          </a:xfrm>
          <a:prstGeom prst="roundRect">
            <a:avLst/>
          </a:prstGeom>
          <a:solidFill>
            <a:srgbClr val="101F36"/>
          </a:solidFill>
          <a:ln w="1016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195560" y="2587752"/>
            <a:ext cx="141732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300" b="1">
                <a:solidFill>
                  <a:srgbClr val="F87171"/>
                </a:solidFill>
                <a:latin typeface="Aptos"/>
              </a:rPr>
              <a:t>BOLA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95560" y="2889504"/>
            <a:ext cx="141732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Aptos Mono"/>
              </a:rPr>
              <a:t>verified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188720" y="4069080"/>
            <a:ext cx="9784080" cy="1051560"/>
          </a:xfrm>
          <a:prstGeom prst="roundRect">
            <a:avLst/>
          </a:prstGeom>
          <a:solidFill>
            <a:srgbClr val="0C1628"/>
          </a:solidFill>
          <a:ln w="10160">
            <a:solidFill>
              <a:srgbClr val="1E3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508760" y="4315968"/>
            <a:ext cx="164592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Aptos Mono"/>
              </a:rPr>
              <a:t>Evidence Inspector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46120" y="4279392"/>
            <a:ext cx="72694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Aptos"/>
              </a:rPr>
              <a:t>Request  -&gt;  Response  -&gt;  Ownership mismatch  -&gt;  Reasoning  -&gt;  Remediation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508760" y="4754880"/>
            <a:ext cx="80467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tos"/>
              </a:rPr>
              <a:t>Every square is selectable. Every edge explains the security transition.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5486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455664"/>
            <a:ext cx="54864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00" b="1">
                <a:solidFill>
                  <a:srgbClr val="22D3EE"/>
                </a:solidFill>
                <a:latin typeface="Aptos Mono"/>
              </a:rPr>
              <a:t>KAVACH / ZERO-TRUST API SECURITY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437376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800" b="1">
                <a:solidFill>
                  <a:srgbClr val="94A3B8"/>
                </a:solidFill>
                <a:latin typeface="Aptos Mono"/>
              </a:rPr>
              <a:t>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11480"/>
            <a:ext cx="502920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Aptos Mono"/>
              </a:rPr>
              <a:t>07 / PRODUCT EXPERIENCE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731520"/>
            <a:ext cx="10972800" cy="6583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3000" b="1">
                <a:solidFill>
                  <a:srgbClr val="F1F5F9"/>
                </a:solidFill>
                <a:latin typeface="Aptos"/>
              </a:rPr>
              <a:t>A security cockpit, not a raw API console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1426464"/>
            <a:ext cx="105156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The UI is designed for scanning, investigation, and executive communication.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2057400"/>
            <a:ext cx="3154680" cy="1097280"/>
          </a:xfrm>
          <a:prstGeom prst="roundRect">
            <a:avLst/>
          </a:prstGeom>
          <a:solidFill>
            <a:srgbClr val="0C1628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2267712"/>
            <a:ext cx="22860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Aptos Mono"/>
              </a:rPr>
              <a:t>SCAN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2587752"/>
            <a:ext cx="26517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Aptos"/>
              </a:rPr>
              <a:t>Target URL + identities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80559" y="2057400"/>
            <a:ext cx="3154680" cy="1097280"/>
          </a:xfrm>
          <a:prstGeom prst="roundRect">
            <a:avLst/>
          </a:prstGeom>
          <a:solidFill>
            <a:srgbClr val="0C1628"/>
          </a:solidFill>
          <a:ln w="101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81727" y="2267712"/>
            <a:ext cx="22860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  <a:latin typeface="Aptos Mono"/>
              </a:rPr>
              <a:t>SURFACE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81727" y="2587752"/>
            <a:ext cx="26517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Aptos"/>
              </a:rPr>
              <a:t>Endpoint inventory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0" y="2057400"/>
            <a:ext cx="3154680" cy="1097280"/>
          </a:xfrm>
          <a:prstGeom prst="roundRect">
            <a:avLst/>
          </a:prstGeom>
          <a:solidFill>
            <a:srgbClr val="0C1628"/>
          </a:solidFill>
          <a:ln w="1016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30768" y="2267712"/>
            <a:ext cx="22860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1">
                <a:solidFill>
                  <a:srgbClr val="F87171"/>
                </a:solidFill>
                <a:latin typeface="Aptos Mono"/>
              </a:rPr>
              <a:t>FINDINGS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30768" y="2587752"/>
            <a:ext cx="26517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Aptos"/>
              </a:rPr>
              <a:t>Risk-ranked evidence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3566160"/>
            <a:ext cx="3154680" cy="1097280"/>
          </a:xfrm>
          <a:prstGeom prst="roundRect">
            <a:avLst/>
          </a:prstGeom>
          <a:solidFill>
            <a:srgbClr val="0C1628"/>
          </a:solidFill>
          <a:ln w="1016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2688" y="3776472"/>
            <a:ext cx="22860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1">
                <a:solidFill>
                  <a:srgbClr val="A78BFA"/>
                </a:solidFill>
                <a:latin typeface="Aptos Mono"/>
              </a:rPr>
              <a:t>TRACE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2688" y="4096511"/>
            <a:ext cx="26517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Aptos"/>
              </a:rPr>
              <a:t>Attack path graph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480559" y="3566160"/>
            <a:ext cx="3154680" cy="1097280"/>
          </a:xfrm>
          <a:prstGeom prst="roundRect">
            <a:avLst/>
          </a:prstGeom>
          <a:solidFill>
            <a:srgbClr val="0C1628"/>
          </a:solidFill>
          <a:ln w="101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81727" y="3776472"/>
            <a:ext cx="22860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1">
                <a:solidFill>
                  <a:srgbClr val="34D399"/>
                </a:solidFill>
                <a:latin typeface="Aptos Mono"/>
              </a:rPr>
              <a:t>REPORTS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81727" y="4096511"/>
            <a:ext cx="26517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Aptos"/>
              </a:rPr>
              <a:t>JSON / CSV / print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29600" y="3566160"/>
            <a:ext cx="3154680" cy="1097280"/>
          </a:xfrm>
          <a:prstGeom prst="roundRect">
            <a:avLst/>
          </a:prstGeom>
          <a:solidFill>
            <a:srgbClr val="0C1628"/>
          </a:solidFill>
          <a:ln w="1016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30768" y="3776472"/>
            <a:ext cx="22860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1">
                <a:solidFill>
                  <a:srgbClr val="FBBF24"/>
                </a:solidFill>
                <a:latin typeface="Aptos Mono"/>
              </a:rPr>
              <a:t>LAB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30768" y="4096511"/>
            <a:ext cx="26517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Aptos"/>
              </a:rPr>
              <a:t>Controlled demo API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" y="5212080"/>
            <a:ext cx="102412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500" b="0">
                <a:solidFill>
                  <a:srgbClr val="94A3B8"/>
                </a:solidFill>
                <a:latin typeface="Aptos"/>
              </a:rPr>
              <a:t>Professional signal: the interface makes evidence, confidence, and next action visible at the same time.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5486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455664"/>
            <a:ext cx="54864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00" b="1">
                <a:solidFill>
                  <a:srgbClr val="22D3EE"/>
                </a:solidFill>
                <a:latin typeface="Aptos Mono"/>
              </a:rPr>
              <a:t>KAVACH / ZERO-TRUST API SECURITY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437376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800" b="1">
                <a:solidFill>
                  <a:srgbClr val="94A3B8"/>
                </a:solidFill>
                <a:latin typeface="Aptos Mono"/>
              </a:rPr>
              <a:t>09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11480"/>
            <a:ext cx="502920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Aptos Mono"/>
              </a:rPr>
              <a:t>08 / LIVE RESULT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731520"/>
            <a:ext cx="10972800" cy="6583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3000" b="1">
                <a:solidFill>
                  <a:srgbClr val="F1F5F9"/>
                </a:solidFill>
                <a:latin typeface="Aptos"/>
              </a:rPr>
              <a:t>A complete scan in one evidence chain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1426464"/>
            <a:ext cx="105156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The controlled demo returns a deterministic, explainable security verdict.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2148840"/>
            <a:ext cx="2423160" cy="1508760"/>
          </a:xfrm>
          <a:prstGeom prst="roundRect">
            <a:avLst/>
          </a:prstGeom>
          <a:solidFill>
            <a:srgbClr val="0C1628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0392" y="2450592"/>
            <a:ext cx="2057400" cy="4754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2900" b="1">
                <a:solidFill>
                  <a:srgbClr val="22D3EE"/>
                </a:solidFill>
                <a:latin typeface="Aptos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" y="3063240"/>
            <a:ext cx="20574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100" b="1">
                <a:solidFill>
                  <a:srgbClr val="94A3B8"/>
                </a:solidFill>
                <a:latin typeface="Aptos"/>
              </a:rPr>
              <a:t>Endpoints discovered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502152" y="2148840"/>
            <a:ext cx="2423160" cy="1508760"/>
          </a:xfrm>
          <a:prstGeom prst="roundRect">
            <a:avLst/>
          </a:prstGeom>
          <a:solidFill>
            <a:srgbClr val="0C1628"/>
          </a:solidFill>
          <a:ln w="1016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66744" y="2450592"/>
            <a:ext cx="2057400" cy="4754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2900" b="1">
                <a:solidFill>
                  <a:srgbClr val="A78BFA"/>
                </a:solidFill>
                <a:latin typeface="Aptos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66744" y="3063240"/>
            <a:ext cx="20574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100" b="1">
                <a:solidFill>
                  <a:srgbClr val="94A3B8"/>
                </a:solidFill>
                <a:latin typeface="Aptos"/>
              </a:rPr>
              <a:t>Object route tested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18504" y="2148840"/>
            <a:ext cx="2423160" cy="1508760"/>
          </a:xfrm>
          <a:prstGeom prst="roundRect">
            <a:avLst/>
          </a:prstGeom>
          <a:solidFill>
            <a:srgbClr val="0C1628"/>
          </a:solidFill>
          <a:ln w="1016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83096" y="2450592"/>
            <a:ext cx="2057400" cy="4754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2900" b="1">
                <a:solidFill>
                  <a:srgbClr val="F87171"/>
                </a:solidFill>
                <a:latin typeface="Aptos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83096" y="3063240"/>
            <a:ext cx="20574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100" b="1">
                <a:solidFill>
                  <a:srgbClr val="94A3B8"/>
                </a:solidFill>
                <a:latin typeface="Aptos"/>
              </a:rPr>
              <a:t>BOLA findings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34856" y="2148840"/>
            <a:ext cx="2423160" cy="1508760"/>
          </a:xfrm>
          <a:prstGeom prst="roundRect">
            <a:avLst/>
          </a:prstGeom>
          <a:solidFill>
            <a:srgbClr val="0C1628"/>
          </a:solidFill>
          <a:ln w="1016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99448" y="2450592"/>
            <a:ext cx="2057400" cy="4754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2900" b="1">
                <a:solidFill>
                  <a:srgbClr val="FBBF24"/>
                </a:solidFill>
                <a:latin typeface="Aptos"/>
              </a:rPr>
              <a:t>100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99448" y="3063240"/>
            <a:ext cx="20574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100" b="1">
                <a:solidFill>
                  <a:srgbClr val="94A3B8"/>
                </a:solidFill>
                <a:latin typeface="Aptos"/>
              </a:rPr>
              <a:t>Risk score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234440" y="4251960"/>
            <a:ext cx="9646920" cy="868680"/>
          </a:xfrm>
          <a:prstGeom prst="roundRect">
            <a:avLst/>
          </a:prstGeom>
          <a:solidFill>
            <a:srgbClr val="101F36"/>
          </a:solidFill>
          <a:ln w="10160">
            <a:solidFill>
              <a:srgbClr val="4D1D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554480" y="4480560"/>
            <a:ext cx="192024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00" b="1">
                <a:solidFill>
                  <a:srgbClr val="F87171"/>
                </a:solidFill>
                <a:latin typeface="Aptos Mono"/>
              </a:rPr>
              <a:t>THREAT VERIFIED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0" y="4462272"/>
            <a:ext cx="66294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Aptos"/>
              </a:rPr>
              <a:t>Confidence 100%  /  Anomaly SEVERE  /  Priority IMMEDIATE REMEDIATION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5486" cy="6858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5486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455664"/>
            <a:ext cx="54864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00" b="1">
                <a:solidFill>
                  <a:srgbClr val="22D3EE"/>
                </a:solidFill>
                <a:latin typeface="Aptos Mono"/>
              </a:rPr>
              <a:t>KAVACH / NEXT HORIZON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437376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800" b="1">
                <a:solidFill>
                  <a:srgbClr val="94A3B8"/>
                </a:solidFill>
                <a:latin typeface="Aptos Mono"/>
              </a:rPr>
              <a:t>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11480"/>
            <a:ext cx="502920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Aptos Mono"/>
              </a:rPr>
              <a:t>09 / NEXT HORIZON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731520"/>
            <a:ext cx="10972800" cy="6583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3000" b="1">
                <a:solidFill>
                  <a:srgbClr val="F1F5F9"/>
                </a:solidFill>
                <a:latin typeface="Aptos"/>
              </a:rPr>
              <a:t>From strong demo to production platform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1426464"/>
            <a:ext cx="105156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The foundation is ready; the next step is operational maturity.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2148840"/>
            <a:ext cx="3200400" cy="2103120"/>
          </a:xfrm>
          <a:prstGeom prst="roundRect">
            <a:avLst/>
          </a:prstGeom>
          <a:solidFill>
            <a:srgbClr val="0C1628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05840" y="2423160"/>
            <a:ext cx="658368" cy="274320"/>
          </a:xfrm>
          <a:prstGeom prst="round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0704" y="2446020"/>
            <a:ext cx="54864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800" b="1">
                <a:solidFill>
                  <a:srgbClr val="22D3EE"/>
                </a:solidFill>
                <a:latin typeface="Aptos Mono"/>
              </a:rPr>
              <a:t>NOW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2944368"/>
            <a:ext cx="27432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F1F5F9"/>
                </a:solidFill>
                <a:latin typeface="Aptos"/>
              </a:rPr>
              <a:t>Deterministic BOLA proof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3493008"/>
            <a:ext cx="26974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OpenAPI discovery, multi-identity testing, Trace evidence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0" y="2148840"/>
            <a:ext cx="3200400" cy="2103120"/>
          </a:xfrm>
          <a:prstGeom prst="roundRect">
            <a:avLst/>
          </a:prstGeom>
          <a:solidFill>
            <a:srgbClr val="0C1628"/>
          </a:solidFill>
          <a:ln w="1016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800600" y="2423160"/>
            <a:ext cx="658368" cy="274320"/>
          </a:xfrm>
          <a:prstGeom prst="roundRect">
            <a:avLst/>
          </a:prstGeom>
          <a:solidFill>
            <a:srgbClr val="A78BFA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55464" y="2446020"/>
            <a:ext cx="54864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800" b="1">
                <a:solidFill>
                  <a:srgbClr val="A78BFA"/>
                </a:solidFill>
                <a:latin typeface="Aptos Mono"/>
              </a:rPr>
              <a:t>NEXT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00600" y="2944368"/>
            <a:ext cx="27432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F1F5F9"/>
                </a:solidFill>
                <a:latin typeface="Aptos"/>
              </a:rPr>
              <a:t>Production operations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00600" y="3493008"/>
            <a:ext cx="26974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Persistent scan history, RBAC, queues, rate limits, HTTPS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366760" y="2148840"/>
            <a:ext cx="3200400" cy="2103120"/>
          </a:xfrm>
          <a:prstGeom prst="roundRect">
            <a:avLst/>
          </a:prstGeom>
          <a:solidFill>
            <a:srgbClr val="0C1628"/>
          </a:solidFill>
          <a:ln w="1016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595360" y="2423160"/>
            <a:ext cx="658368" cy="274320"/>
          </a:xfrm>
          <a:prstGeom prst="roundRect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50224" y="2446020"/>
            <a:ext cx="54864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800" b="1">
                <a:solidFill>
                  <a:srgbClr val="FBBF24"/>
                </a:solidFill>
                <a:latin typeface="Aptos Mono"/>
              </a:rPr>
              <a:t>LATER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95360" y="2944368"/>
            <a:ext cx="27432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F1F5F9"/>
                </a:solidFill>
                <a:latin typeface="Aptos"/>
              </a:rPr>
              <a:t>Security intelligence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95360" y="3493008"/>
            <a:ext cx="26974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Real-world training data, regression baselines, policy packs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074920"/>
            <a:ext cx="201168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22D3EE"/>
                </a:solidFill>
                <a:latin typeface="Aptos"/>
              </a:rPr>
              <a:t>KAVACH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88920" y="5138928"/>
            <a:ext cx="50292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Aptos"/>
              </a:rPr>
              <a:t>Discover. Verify. Explain. Protect.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09760" y="5120640"/>
            <a:ext cx="18288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800" b="0">
                <a:solidFill>
                  <a:srgbClr val="94A3B8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